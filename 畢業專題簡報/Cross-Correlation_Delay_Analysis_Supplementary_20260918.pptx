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e4502bf6b4a2f" /><Relationship Type="http://schemas.openxmlformats.org/officeDocument/2006/relationships/extended-properties" Target="/docProps/app.xml" Id="R32b4751ba5b84b1b" /><Relationship Type="http://schemas.openxmlformats.org/officeDocument/2006/relationships/officeDocument" Target="/ppt/presentation.xml" Id="Re437bbf4bed2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1e0e599b4429a"/>
  </p:sldMasterIdLst>
  <p:notesMasterIdLst>
    <p:notesMasterId xmlns:r="http://schemas.openxmlformats.org/officeDocument/2006/relationships" r:id="R8638f80d0d8f4997"/>
  </p:notesMasterIdLst>
  <p:sldIdLst>
    <p:sldId xmlns:r="http://schemas.openxmlformats.org/officeDocument/2006/relationships" id="256" r:id="R48b16f506db842f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75bc37643d484e" /><Relationship Type="http://schemas.openxmlformats.org/officeDocument/2006/relationships/slideMaster" Target="/ppt/slideMasters/slideMaster1.xml" Id="R6a41e0e599b4429a" /><Relationship Type="http://schemas.openxmlformats.org/officeDocument/2006/relationships/notesMaster" Target="/ppt/notesMasters/notesMaster1.xml" Id="R8638f80d0d8f4997" /><Relationship Type="http://schemas.openxmlformats.org/officeDocument/2006/relationships/presProps" Target="/ppt/presProps.xml" Id="R3cc575dd9f6b423e" /><Relationship Type="http://schemas.openxmlformats.org/officeDocument/2006/relationships/tableStyles" Target="/ppt/tableStyles.xml" Id="Rb24aa5ff5fcc44a0" /><Relationship Type="http://schemas.openxmlformats.org/officeDocument/2006/relationships/slide" Target="/ppt/slides/slide1.xml" Id="R48b16f506db842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6ab1a34de34d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bab433e7ec4d47" /><Relationship Type="http://schemas.openxmlformats.org/officeDocument/2006/relationships/notesMaster" Target="/ppt/notesMasters/notesMaster1.xml" Id="Ra1fa57b9e6594d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FINAL_CrossCorrelation_Delay_Summary.png. Final rapid-test dataset with five trials per mode. Processing removed the first 1.5 seconds, resampled signals to a uniform time base, and estimated lag using cross-correlation. Mean ± SD values: Following only, 0.342 ± 0.139 s target-to-measured, 0.284 ± 0.169 s target-velocity-to-PWM, and 0.053 ± 0.054 s PWM-to-measured-velocity. PID-assisted, 0.842 ± 0.243 s, 0.504 ± 0.109 s, and 0.389 ± 0.198 s. LADRC-assisted, 0.477 ± 0.053 s, 0.332 ± 0.051 s, and 0.210 ± 0.073 s. Interpret as development-stage engineering results, not clinical efficacy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4a0efd21548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0a36e9a8d24567" /><Relationship Type="http://schemas.openxmlformats.org/officeDocument/2006/relationships/slideLayout" Target="/ppt/slideLayouts/slideLayout1.xml" Id="R39083f80d78541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083f80d78541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0e85b7d3840e7" /><Relationship Type="http://schemas.openxmlformats.org/officeDocument/2006/relationships/image" Target="/ppt/media/image.png" Id="R9ad754e84e7347f9" /><Relationship Type="http://schemas.openxmlformats.org/officeDocument/2006/relationships/notesSlide" Target="/ppt/notesSlides/notesSlide1.xml" Id="R6f9d531a13f3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0D511B-98AF-4A25-8A6F-F4C8E838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D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B96DB-8CD9-4DB1-B01D-5C915F79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49DE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9DE3"/>
                </a:solidFill>
                <a:latin typeface="Arial"/>
                <a:ea typeface="Arial"/>
                <a:cs typeface="Arial"/>
              </a:rPr>
              <a:t>SUPPLEMENTARY EXPERIMENTAL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84B4B-A47C-456C-8D5A-3C15D661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171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Cross-Correlation Delay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CE711-D6FD-4421-B50D-2BDA9DE4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763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C667A"/>
                </a:solidFill>
                <a:latin typeface="Arial"/>
                <a:ea typeface="Arial"/>
                <a:cs typeface="Arial"/>
              </a:rPr>
              <a:t>Mean ± SD across 5 repeated trials per control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DDAC-1753-4AB9-8524-8CB8345C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30F5C-8F2E-45A7-BC57-044F0F58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1049000" cy="6191250"/>
          </a:xfrm>
          <a:prstGeom xmlns:a="http://schemas.openxmlformats.org/drawingml/2006/main" prst="roundRect">
            <a:avLst>
              <a:gd name="adj" fmla="val 2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F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754e84e7347f9"/>
          <a:stretch xmlns:a="http://schemas.openxmlformats.org/drawingml/2006/main"/>
        </p:blipFill>
        <p:spPr>
          <a:xfrm xmlns:a="http://schemas.openxmlformats.org/drawingml/2006/main">
            <a:off x="1021517" y="1952625"/>
            <a:ext cx="10339466" cy="5905500"/>
          </a:xfrm>
          <a:prstGeom xmlns:a="http://schemas.openxmlformats.org/drawingml/2006/main" prst="roundRect">
            <a:avLst>
              <a:gd name="adj" fmla="val 161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D4F2-8A80-468A-8DBD-96B5E670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809750"/>
            <a:ext cx="5429250" cy="61912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7EDFF-B669-407A-81B2-2FE08A04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1431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49DE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9DE3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C6E4E-4051-4BD4-AB1B-FEC78A32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28E2B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28E2B"/>
                </a:solidFill>
                <a:latin typeface="Arial"/>
                <a:ea typeface="Arial"/>
                <a:cs typeface="Arial"/>
              </a:rPr>
              <a:t>0.84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7E72-7228-4E18-897F-2CE1D6E3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28765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865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PID overall tracking delay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AC3B6-2517-4A28-8465-DAA3FAE7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5242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2E460-16CC-4AC4-9536-E3FBF1E3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857625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E9E55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2E9E55"/>
                </a:solidFill>
                <a:latin typeface="Arial"/>
                <a:ea typeface="Arial"/>
                <a:cs typeface="Arial"/>
              </a:rPr>
              <a:t>0.48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B53EA-1C94-41ED-A4DD-2B4F3C07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9719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4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LADRC overall tracking delay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32C78-9432-4F0A-9241-86E16A6F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6672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C9C4E-BFE4-4BDE-9F08-BBDD6BA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000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Controller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CA7CD-E5DE-41DD-8189-333E40CD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5410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56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56F"/>
                </a:solidFill>
                <a:latin typeface="Arial"/>
                <a:ea typeface="Arial"/>
                <a:cs typeface="Arial"/>
              </a:rPr>
              <a:t>PID 0.50 s     LADRC 0.33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60544-0C81-4383-86F9-F6791A55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483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Actuator and system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CB6633-E01D-4EC5-9C1D-2A470690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4579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256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8256F"/>
                </a:solidFill>
                <a:latin typeface="Arial"/>
                <a:ea typeface="Arial"/>
                <a:cs typeface="Arial"/>
              </a:rPr>
              <a:t>PID 0.39 s     LADRC 0.21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A56E0-CDF4-4F1B-A094-3BD22E2F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1437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42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C667A"/>
                </a:solidFill>
                <a:latin typeface="Arial"/>
                <a:ea typeface="Arial"/>
                <a:cs typeface="Arial"/>
              </a:rPr>
              <a:t>LADRC improved responsiveness on both sides of the control loop.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13D12-4CD2-44CE-81A0-CB489A73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096250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81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67A"/>
                </a:solidFill>
                <a:latin typeface="Arial"/>
                <a:ea typeface="Arial"/>
                <a:cs typeface="Arial"/>
              </a:rPr>
              <a:t>Method: 1.5-s startup transient removed, signals uniformly resampled, and delay estimated by cross-correlation. Target angle versus PWM was excluded because PWM represents a drive command rather than an angle command.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BD6F5-6FE2-4AFB-AF50-22C9C99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0"/>
            <a:ext cx="1685925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182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13AA7A-DB83-47EE-9148-4DCE35B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05875"/>
            <a:ext cx="1609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LADRC reduced both controller-side and system-side delay, resulting in faster overall trajectory tracking than PID.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FCFDA-CF99-4458-930F-264175B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858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C667A"/>
                </a:solidFill>
                <a:latin typeface="Arial"/>
                <a:ea typeface="Arial"/>
                <a:cs typeface="Arial"/>
              </a:rPr>
              <a:t>Q&amp;A BACKUP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F686FE-0A5C-49D9-937B-53C4A1A6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9858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C667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C667A"/>
                </a:solidFill>
                <a:latin typeface="Arial"/>
                <a:ea typeface="Arial"/>
                <a:cs typeface="Arial"/>
              </a:rPr>
              <a:t>SUPPLEMENTARY RESULT</a:t>
            </a:r>
          </a:p>
        </p:txBody>
      </p:sp>
    </p:spTree>
    <p:extLst>
      <p:ext uri="{BB962C8B-B14F-4D97-AF65-F5344CB8AC3E}">
        <p14:creationId xmlns:p14="http://schemas.microsoft.com/office/powerpoint/2010/main" val="157483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2026-09-17T20:16:02.0950000Z</dcterms:created>
  <dcterms:modified xsi:type="dcterms:W3CDTF">2026-09-17T20:16:02.0960000Z</dcterms:modified>
</coreProperties>
</file>